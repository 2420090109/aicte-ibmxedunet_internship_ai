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79" r:id="rId7"/>
    <p:sldId id="262" r:id="rId8"/>
    <p:sldId id="290" r:id="rId9"/>
    <p:sldId id="291" r:id="rId10"/>
    <p:sldId id="286" r:id="rId11"/>
    <p:sldId id="280" r:id="rId12"/>
    <p:sldId id="288"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746EE066-C99A-1548-0111-A8297267F854}" v="733" dt="2026-06-19T08:10:03.439"/>
    <p1510:client id="{86BCD85A-7972-A6FD-263D-01F0C6DCFF46}" v="8" dt="2026-06-19T08:02:34.666"/>
    <p1510:client id="{A6B9108B-7598-1D50-C4AA-8A38026DAEEF}" v="18" dt="2026-06-19T06:56:18.840"/>
    <p1510:client id="{F65B29D0-DD12-DDC3-5CE1-E2A91AABFDBA}" v="57" dt="2026-06-19T08:09:53.82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0"/>
    </inkml:context>
    <inkml:brush xml:id="br0">
      <inkml:brushProperty name="width" value="0.1" units="cm"/>
      <inkml:brushProperty name="height" value="0.1" units="cm"/>
      <inkml:brushProperty name="color" value="#E71224"/>
    </inkml:brush>
  </inkml:definitions>
  <inkml:trace contextRef="#ctx0" brushRef="#br0">8444 7648 16383 0 0,'10'0'0'0'0,"19"0"0"0"0,19 0 0 0 0,17 0 0 0 0,13 0 0 0 0,8 0 0 0 0,9 0 0 0 0,0 0 0 0 0,-7 0 0 0 0,-9 0 0 0 0,-6 0 0 0 0,-7 0 0 0 0,-3 0 0 0 0,-9 0 0 0 0,-7 0 0 0 0,-2 0 0 0 0,-4 0 0 0 0,-3 0 0 0 0,-3 0 0 0 0,-3 0 0 0 0,-2 0 0 0 0,0 0 0 0 0,-1 0 0 0 0,0 0 0 0 0,0 0 0 0 0,1 0 0 0 0,4 0 0 0 0,8 0 0 0 0,11 0 0 0 0,7 0 0 0 0,8 0 0 0 0,13 0 0 0 0,8 0 0 0 0,10 0 0 0 0,17 0 0 0 0,10 0 0 0 0,-1 0 0 0 0,-2 0 0 0 0,-7 0 0 0 0,-2 0 0 0 0,-6 0 0 0 0,-6 0 0 0 0,-5 0 0 0 0,-14 0 0 0 0,-6 0 0 0 0,-5 0 0 0 0,-1 0 0 0 0,3 0 0 0 0,5 0 0 0 0,9 0 0 0 0,9 0 0 0 0,9 0 0 0 0,22 0 0 0 0,14 0 0 0 0,9 0 0 0 0,-1 0 0 0 0,-2 0 0 0 0,-4 0 0 0 0,-7 0 0 0 0,-7 0 0 0 0,-5 0 0 0 0,-3 0 0 0 0,-3 0 0 0 0,-5 0 0 0 0,-8 0 0 0 0,-6 0 0 0 0,-6 0 0 0 0,3 0 0 0 0,-1 0 0 0 0,-1 0 0 0 0,-2 0 0 0 0,-1 0 0 0 0,-7 0 0 0 0,4 0 0 0 0,0 0 0 0 0,2 0 0 0 0,-1 0 0 0 0,1 0 0 0 0,-6 0 0 0 0,-7 0 0 0 0,4 0 0 0 0,-7 0 0 0 0,-12 0 0 0 0,-11 0 0 0 0,-9 0 0 0 0,-7 0 0 0 0,-5 0 0 0 0,-2 0 0 0 0,-1 0 0 0 0,-1 0 0 0 0,1 0 0 0 0,0 0 0 0 0,1 0 0 0 0,11 0 0 0 0,3 0 0 0 0,4 0 0 0 0,10 0 0 0 0,11 0 0 0 0,8 0 0 0 0,7 0 0 0 0,14 0 0 0 0,7 0 0 0 0,0 0 0 0 0,-3 0 0 0 0,-12 0 0 0 0,-12 0 0 0 0,-9 0 0 0 0,-6 0 0 0 0,-8 0 0 0 0,-3 0 0 0 0,-6 0 0 0 0,-4 0 0 0 0,-5 0 0 0 0,-4 0 0 0 0,-1 0 0 0 0,-2 0 0 0 0,0 0 0 0 0,0 0 0 0 0,0 0 0 0 0,0 0 0 0 0,5 0 0 0 0,12 0 0 0 0,4 0 0 0 0,-2 0 0 0 0,-4 0 0 0 0,-5 0 0 0 0,-3 0 0 0 0,-3 0 0 0 0,-2 0 0 0 0,-2 0 0 0 0,0 0 0 0 0,0 0 0 0 0,0 0 0 0 0,0 0 0 0 0,1 0 0 0 0,4 0 0 0 0,3 0 0 0 0,-6 0 0 0 0,-3 0 0 0 0,-1 0 0 0 0,-5 0 0 0 0,-1 0 0 0 0,1 0 0 0 0,1 0 0 0 0,2 0 0 0 0,3 0 0 0 0,-10 0 0 0 0,-12 0 0 0 0,-13 0 0 0 0,-9 0 0 0 0,-8 0 0 0 0,-5 0 0 0 0,-2 0 0 0 0,-6 0 0 0 0,-3 0 0 0 0,2 0 0 0 0,2 0 0 0 0,1 0 0 0 0,2 0 0 0 0,-3 0 0 0 0,-6 0 0 0 0,-11 0 0 0 0,-7 0 0 0 0,-18 0 0 0 0,-16 0 0 0 0,-13 0 0 0 0,-8 0 0 0 0,-10 0 0 0 0,-24 0 0 0 0,-18 0 0 0 0,-5 0 0 0 0,-14 0 0 0 0,-1 0 0 0 0,1 0 0 0 0,12 0 0 0 0,0 0 0 0 0,-1 0 0 0 0,-1 0 0 0 0,-1 0 0 0 0,-6 0 0 0 0,3 0 0 0 0,-8 0 0 0 0,-4 0 0 0 0,-3 0 0 0 0,0 0 0 0 0,3 0 0 0 0,14 0 0 0 0,2 0 0 0 0,11 0 0 0 0,2 0 0 0 0,19 0 0 0 0,4 0 0 0 0,0 0 0 0 0,14 0 0 0 0,13 0 0 0 0,6 0 0 0 0,5 0 0 0 0,-5 0 0 0 0,-4 0 0 0 0,-5 0 0 0 0,4 0 0 0 0,-1 0 0 0 0,0 0 0 0 0,-2 0 0 0 0,3 0 0 0 0,6 0 0 0 0,6 0 0 0 0,4 0 0 0 0,-1 0 0 0 0,0 0 0 0 0,2 0 0 0 0,1 0 0 0 0,2 0 0 0 0,1 0 0 0 0,-4 0 0 0 0,-1 0 0 0 0,11 0 0 0 0,9 0 0 0 0,8 0 0 0 0,5 0 0 0 0,3 0 0 0 0,2 0 0 0 0,6 0 0 0 0,11 0 0 0 0,3 0 0 0 0,3 0 0 0 0,1 0 0 0 0,3 0 0 0 0,6 0 0 0 0,2 0 0 0 0,0 0 0 0 0,4 0 0 0 0,0 0 0 0 0,-1 0 0 0 0,-4 0 0 0 0,-1 0 0 0 0,-3 0 0 0 0,0 0 0 0 0,-2 0 0 0 0,-5 0 0 0 0,-7 0 0 0 0,3 0 0 0 0,4 0 0 0 0,3 0 0 0 0,1 0 0 0 0,6 0 0 0 0,3 0 0 0 0,-1 0 0 0 0,-1 0 0 0 0,-1 0 0 0 0,2 0 0 0 0,2 0 0 0 0,-2 0 0 0 0,4 0 0 0 0,-1 0 0 0 0,4 0 0 0 0,-1 0 0 0 0,-3 0 0 0 0,3 0 0 0 0,-2 0 0 0 0,-7 0 0 0 0,1 0 0 0 0,-1 0 0 0 0,-1 0 0 0 0,0 0 0 0 0,-2 0 0 0 0,0 0 0 0 0,-1 0 0 0 0,1 0 0 0 0,-1 0 0 0 0,0 0 0 0 0,0 0 0 0 0,0 0 0 0 0,5 0 0 0 0,7 0 0 0 0,1 0 0 0 0,-1 0 0 0 0,-3 0 0 0 0,-8 0 0 0 0,6 0 0 0 0,12 0 0 0 0,13 0 0 0 0,11 0 0 0 0,9 0 0 0 0,5 0 0 0 0,4 0 0 0 0,1 0 0 0 0,0 0 0 0 0,0 0 0 0 0,-11 0 0 0 0,-13 0 0 0 0,-14 0 0 0 0,-11 0 0 0 0,-7 0 0 0 0,-5 0 0 0 0,3 0 0 0 0,10 0 0 0 0,14 0 0 0 0,11 0 0 0 0,10 0 0 0 0,7 0 0 0 0,3 0 0 0 0,8 0 0 0 0,7 0 0 0 0,2 0 0 0 0,17 0 0 0 0,10 0 0 0 0,6 0 0 0 0,11 0 0 0 0,9 0 0 0 0,10 0 0 0 0,5 0 0 0 0,4 0 0 0 0,-2 0 0 0 0,-7 0 0 0 0,-6 0 0 0 0,0 0 0 0 0,-8 0 0 0 0,-5 0 0 0 0,-7 0 0 0 0,-13 0 0 0 0,-13 0 0 0 0,-7 0 0 0 0,-6 0 0 0 0,0 0 0 0 0,12 0 0 0 0,12 0 0 0 0,9 0 0 0 0,8 0 0 0 0,8 0 0 0 0,5 0 0 0 0,16 0 0 0 0,8 0 0 0 0,-1 0 0 0 0,-6 0 0 0 0,-2 0 0 0 0,0 0 0 0 0,-4 0 0 0 0,-6 0 0 0 0,1 0 0 0 0,-3 0 0 0 0,-8 0 0 0 0,5 0 0 0 0,7 0 0 0 0,0 0 0 0 0,-7 0 0 0 0,-1 0 0 0 0,-1 0 0 0 0,4 0 0 0 0,9 0 0 0 0,2 0 0 0 0,-7 0 0 0 0,-8 0 0 0 0,-3 0 0 0 0,2 0 0 0 0,0 0 0 0 0,-1 0 0 0 0,-6 0 0 0 0,-3 0 0 0 0,-6 0 0 0 0,-6 0 0 0 0,0 0 0 0 0,-8 0 0 0 0,1 0 0 0 0,-1 0 0 0 0,-2 0 0 0 0,4 0 0 0 0,6 0 0 0 0,-4 0 0 0 0,16 0 0 0 0,4 0 0 0 0,2 0 0 0 0,0 0 0 0 0,1 0 0 0 0,-1 0 0 0 0,10 0 0 0 0,8 0 0 0 0,6 0 0 0 0,-2 0 0 0 0,-5 0 0 0 0,-5 0 0 0 0,-5 0 0 0 0,-4 0 0 0 0,-13 0 0 0 0,-15 0 0 0 0,-9 0 0 0 0,-9 0 0 0 0,-7 0 0 0 0,-6 0 0 0 0,-4 0 0 0 0,3 0 0 0 0,1 0 0 0 0,5 0 0 0 0,10 0 0 0 0,7 0 0 0 0,4 0 0 0 0,-3 0 0 0 0,4 0 0 0 0,1 0 0 0 0,0 0 0 0 0,-6 0 0 0 0,4 0 0 0 0,-5 0 0 0 0,-6 0 0 0 0,-7 0 0 0 0,-5 0 0 0 0,-5 0 0 0 0,-2 0 0 0 0,-1 0 0 0 0,-2 0 0 0 0,-4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9T08:10:36.311"/>
    </inkml:context>
    <inkml:brush xml:id="br0">
      <inkml:brushProperty name="width" value="0.1" units="cm"/>
      <inkml:brushProperty name="height" value="0.1" units="cm"/>
      <inkml:brushProperty name="color" value="#E71224"/>
    </inkml:brush>
  </inkml:definitions>
  <inkml:trace contextRef="#ctx0" brushRef="#br0">12735 6943 16383 0 0,'91'0'0'0'0,"137"0"0"0"0,85 0 0 0 0,45 0 0 0 0,-7 0 0 0 0,-44 0 0 0 0,-64 0 0 0 0,-62 0 0 0 0,-53 0 0 0 0,-43 0 0 0 0,-25 0 0 0 0,-23 0 0 0 0,-3 0 0 0 0,8 0 0 0 0,12 0 0 0 0,13 0 0 0 0,19 0 0 0 0,16 0 0 0 0,6 0 0 0 0,4 0 0 0 0,-1 0 0 0 0,-4 0 0 0 0,10 0 0 0 0,0 0 0 0 0,0 0 0 0 0,-4 0 0 0 0,-6 0 0 0 0,-1 0 0 0 0,-14 0 0 0 0,-11 0 0 0 0,-6 0 0 0 0,-9 0 0 0 0,-7 0 0 0 0,-8 0 0 0 0,-2 0 0 0 0,-5 0 0 0 0,-4 0 0 0 0,-5 0 0 0 0,3 0 0 0 0,-1 0 0 0 0,-21 0 0 0 0,-34 0 0 0 0,-50 0 0 0 0,-73 0 0 0 0,-59 0 0 0 0,-51 0 0 0 0,-39 0 0 0 0,-35 0 0 0 0,-29 0 0 0 0,-15 0 0 0 0,-1 0 0 0 0,18 0 0 0 0,27 0 0 0 0,34 0 0 0 0,26 0 0 0 0,38 0 0 0 0,41 0 0 0 0,33 0 0 0 0,28 0 0 0 0,13 0 0 0 0,22 0 0 0 0,11 0 0 0 0,13 0 0 0 0,13 0 0 0 0,11 0 0 0 0,7 0 0 0 0,5 0 0 0 0,2 0 0 0 0,1 0 0 0 0,-1 0 0 0 0,1 0 0 0 0,-2 0 0 0 0,1 0 0 0 0,-2 0 0 0 0,11 0 0 0 0,13 0 0 0 0,33 0 0 0 0,37 0 0 0 0,38 0 0 0 0,53 0 0 0 0,35 0 0 0 0,26 0 0 0 0,22 0 0 0 0,10 0 0 0 0,0 0 0 0 0,-13 0 0 0 0,-15 0 0 0 0,-26 0 0 0 0,-24 0 0 0 0,-32 0 0 0 0,-29 0 0 0 0,-28 0 0 0 0,-23 0 0 0 0,-10 0 0 0 0,-10 0 0 0 0,-20 0 0 0 0,-24 0 0 0 0,-31 0 0 0 0,-45 0 0 0 0,-43 0 0 0 0,-62 0 0 0 0,-50 0 0 0 0,-40 0 0 0 0,-29 0 0 0 0,-8 0 0 0 0,-6 0 0 0 0,5 0 0 0 0,16 0 0 0 0,24 0 0 0 0,27 0 0 0 0,36 0 0 0 0,24 0 0 0 0,39 0 0 0 0,34 0 0 0 0,27 0 0 0 0,23 0 0 0 0,17 0 0 0 0,23 0 0 0 0,25 0 0 0 0,33 0 0 0 0,56 0 0 0 0,49 0 0 0 0,27 0 0 0 0,24 0 0 0 0,17 0 0 0 0,4 0 0 0 0,1 0 0 0 0,-5 0 0 0 0,-17 0 0 0 0,-15 0 0 0 0,-7 0 0 0 0,-12 0 0 0 0,-16 0 0 0 0,-18 0 0 0 0,-13 0 0 0 0,-15 0 0 0 0,-19 0 0 0 0,-16 0 0 0 0,-4 0 0 0 0,-4 0 0 0 0,-18 0 0 0 0,-28 0 0 0 0,-35 0 0 0 0,-34 0 0 0 0,-34 0 0 0 0,-48 0 0 0 0,-33 0 0 0 0,-43 0 0 0 0,-58 0 0 0 0,-43 0 0 0 0,-32 0 0 0 0,-12 0 0 0 0,2 0 0 0 0,22 0 0 0 0,44 0 0 0 0,53 0 0 0 0,38 0 0 0 0,45 0 0 0 0,44 0 0 0 0,33 0 0 0 0,27 0 0 0 0,17 0 0 0 0,12 0 0 0 0,6 0 0 0 0,2 0 0 0 0,-1 0 0 0 0,0 0 0 0 0,-7 0 0 0 0,-3 0 0 0 0,-6 0 0 0 0,-6 0 0 0 0,-6 0 0 0 0,7 0 0 0 0,0 0 0 0 0,-2 0 0 0 0,2 0 0 0 0,3 0 0 0 0,4 0 0 0 0,3 0 0 0 0,8 0 0 0 0,3 0 0 0 0,-4 0 0 0 0,-8 0 0 0 0,-2 0 0 0 0,-1 0 0 0 0,-3 0 0 0 0,1 0 0 0 0,6 0 0 0 0,5 0 0 0 0,2 0 0 0 0,1 0 0 0 0,0 0 0 0 0,5 0 0 0 0,0 0 0 0 0,0 0 0 0 0,3 0 0 0 0,10 0 0 0 0,21 0 0 0 0,25 0 0 0 0,31 0 0 0 0,49 0 0 0 0,46 0 0 0 0,40 0 0 0 0,32 0 0 0 0,21 0 0 0 0,3 0 0 0 0,3 0 0 0 0,-3 0 0 0 0,-20 0 0 0 0,-20 0 0 0 0,-17 0 0 0 0,-22 0 0 0 0,-22 0 0 0 0,-18 0 0 0 0,-16 0 0 0 0,-21 0 0 0 0,-11 0 0 0 0,-12 0 0 0 0,-9 0 0 0 0,-12 0 0 0 0,-11 0 0 0 0,-8 0 0 0 0,-6 0 0 0 0,-4 0 0 0 0,9 0 0 0 0,7 0 0 0 0,6 0 0 0 0,10 0 0 0 0,14 0 0 0 0,10 0 0 0 0,20 0 0 0 0,3 0 0 0 0,7 0 0 0 0,5 0 0 0 0,-8 0 0 0 0,-3 0 0 0 0,5 0 0 0 0,-7 0 0 0 0,-11 0 0 0 0,-13 0 0 0 0,-10 0 0 0 0,-12 0 0 0 0,-12 0 0 0 0,-5 0 0 0 0,-4 0 0 0 0,1 0 0 0 0,3 0 0 0 0,4 0 0 0 0,-1 0 0 0 0,2 0 0 0 0,-4 0 0 0 0,-3 0 0 0 0,-5 0 0 0 0,2 0 0 0 0,4 0 0 0 0,-1 0 0 0 0,4 0 0 0 0,2 0 0 0 0,4 0 0 0 0,-2 0 0 0 0,1 0 0 0 0,1 0 0 0 0,-4 0 0 0 0,1 0 0 0 0,-3 0 0 0 0,-5 0 0 0 0,0 0 0 0 0,-1 0 0 0 0,-3 0 0 0 0,-2 0 0 0 0,-3 0 0 0 0,-2 0 0 0 0,-1 0 0 0 0,-5 0 0 0 0,-8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7"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22368984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SYED MUSAIB</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2420090109csit@gmail.com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9000773786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solidFill>
                  <a:srgbClr val="002060"/>
                </a:solidFill>
              </a:rPr>
              <a:t>Mechanical Engineering / Industrial IoT &amp; Manufacturing</a:t>
            </a:r>
            <a:endParaRPr lang="en-IN" sz="2400" b="1">
              <a:solidFill>
                <a:srgbClr val="002060"/>
              </a:solidFill>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Title – </a:t>
            </a:r>
            <a:r>
              <a:rPr lang="en-US" sz="2400" b="1">
                <a:solidFill>
                  <a:srgbClr val="002060"/>
                </a:solidFill>
                <a:latin typeface="Times New Roman"/>
                <a:ea typeface="Times New Roman"/>
                <a:cs typeface="Times New Roman"/>
                <a:sym typeface="Times New Roman"/>
              </a:rPr>
              <a:t>Predictive Maintenance of Industrial Machinery Using Machine Learning</a:t>
            </a:r>
            <a:endParaRPr lang="en-IN" sz="2400" b="1">
              <a:solidFill>
                <a:srgbClr val="00206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2EBC0366-55B9-43FD-85CF-A60BE1104FA7}"/>
              </a:ext>
            </a:extLst>
          </p:cNvPr>
          <p:cNvPicPr>
            <a:picLocks noChangeAspect="1"/>
          </p:cNvPicPr>
          <p:nvPr/>
        </p:nvPicPr>
        <p:blipFill>
          <a:blip r:embed="rId3"/>
          <a:stretch>
            <a:fillRect/>
          </a:stretch>
        </p:blipFill>
        <p:spPr>
          <a:xfrm>
            <a:off x="4048124" y="3541047"/>
            <a:ext cx="1209189" cy="12263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6017032"/>
          </a:xfrm>
          <a:prstGeom prst="rect">
            <a:avLst/>
          </a:prstGeom>
          <a:noFill/>
        </p:spPr>
        <p:txBody>
          <a:bodyPr wrap="square" lIns="91440" tIns="45720" rIns="91440" bIns="45720" rtlCol="0" anchor="t">
            <a:spAutoFit/>
          </a:bodyPr>
          <a:lstStyle/>
          <a:p>
            <a:pPr fontAlgn="base"/>
            <a:r>
              <a:rPr lang="en-US" sz="2000" b="1" dirty="0"/>
              <a:t>Predictive Maintenance of Industrial Machinery using Machine Learning</a:t>
            </a:r>
          </a:p>
          <a:p>
            <a:pPr>
              <a:lnSpc>
                <a:spcPct val="150000"/>
              </a:lnSpc>
            </a:pPr>
            <a:r>
              <a:rPr lang="en-US" sz="2000" dirty="0"/>
              <a:t>Industrial machines such as lathes, mills, pumps, and CNC systems are subject to continuous operational stress, and unplanned failures lead to costly downtime, safety hazards, and lost productivity. Traditional maintenance practices are either reactive – fixing machines only after they break down – or based on fixed schedules that replace parts regardless of their actual condition. Both approaches are inefficient and fail to make use of the rich sensor data that modern machines already generate. The task is to develop a predictive maintenance model for a fleet of industrial machines that can anticipate failures before they occur, by analyzing sensor data such as temperature, rotational speed, torque, and tool wear. The goal is to build a classification model that accurately predicts the type of failure – such as tool wear, heat dissipation, power failure, overstrain, or random failure – enabling proactive maintenance that reduces downtime and operational costs.</a:t>
            </a:r>
          </a:p>
          <a:p>
            <a:pPr fontAlgn="base">
              <a:lnSpc>
                <a:spcPct val="150000"/>
              </a:lnSpc>
            </a:pP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351954" y="382479"/>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5575309"/>
          </a:xfrm>
          <a:prstGeom prst="rect">
            <a:avLst/>
          </a:prstGeom>
          <a:noFill/>
        </p:spPr>
        <p:txBody>
          <a:bodyPr wrap="square" lIns="91440" tIns="45720" rIns="91440" bIns="45720" rtlCol="0" anchor="t">
            <a:spAutoFit/>
          </a:bodyPr>
          <a:lstStyle/>
          <a:p>
            <a:pPr fontAlgn="base">
              <a:lnSpc>
                <a:spcPct val="150000"/>
              </a:lnSpc>
            </a:pPr>
            <a:r>
              <a:rPr lang="en-US" sz="2000" b="1"/>
              <a:t> (IBM watsonx.ai Studio – Jupyter Notebook):</a:t>
            </a:r>
            <a:endParaRPr lang="en-US" b="1"/>
          </a:p>
          <a:p>
            <a:pPr>
              <a:lnSpc>
                <a:spcPct val="150000"/>
              </a:lnSpc>
            </a:pPr>
            <a:r>
              <a:rPr lang="en-US" sz="2000"/>
              <a:t>We propose an AI-powered Machine Failure Prediction System using </a:t>
            </a:r>
            <a:r>
              <a:rPr lang="en-US" sz="2000" b="1"/>
              <a:t>IBM watsonx.ai Studio</a:t>
            </a:r>
            <a:r>
              <a:rPr lang="en-US" sz="2000"/>
              <a:t> and a </a:t>
            </a:r>
            <a:r>
              <a:rPr lang="en-US" sz="2000" b="1"/>
              <a:t>Jupyter Notebook</a:t>
            </a:r>
            <a:r>
              <a:rPr lang="en-US" sz="2000"/>
              <a:t> environment.</a:t>
            </a:r>
            <a:br>
              <a:rPr lang="en-US" sz="2000"/>
            </a:br>
            <a:r>
              <a:rPr lang="en-US" sz="2000"/>
              <a:t> Sensor data (air temperature, process temperature, rotational speed, torque, tool wear, and product type) from the AI4I 2020 Predictive Maintenance dataset will be uploaded to watsonx.ai Studio as a project data asset.</a:t>
            </a:r>
            <a:br>
              <a:rPr lang="en-US" sz="2000"/>
            </a:br>
            <a:r>
              <a:rPr lang="en-US" sz="2000"/>
              <a:t> The notebook performs data pre-processing (encoding categorical variables, train-test split) and trains a </a:t>
            </a:r>
            <a:r>
              <a:rPr lang="en-US" sz="2000" b="1"/>
              <a:t>Random Forest Classifier</a:t>
            </a:r>
            <a:r>
              <a:rPr lang="en-US" sz="2000"/>
              <a:t> using scikit-learn.</a:t>
            </a:r>
            <a:br>
              <a:rPr lang="en-US" sz="2000"/>
            </a:br>
            <a:r>
              <a:rPr lang="en-US" sz="2000"/>
              <a:t> Multiple evaluation metrics (accuracy, precision, recall, F1-score, confusion matrix) are used to assess the model’s performance for failure-type prediction.</a:t>
            </a:r>
            <a:br>
              <a:rPr lang="en-US" sz="2000"/>
            </a:br>
            <a:r>
              <a:rPr lang="en-US" sz="2000"/>
              <a:t> The selected model classifies each machine reading into failure categories such as Tool Wear Failure, Heat Dissipation Failure, Power Failure, Overstrain Failure, Random Failure, or No Failure – enabling proactive maintenance.</a:t>
            </a:r>
            <a:br>
              <a:rPr lang="en-US" sz="2000"/>
            </a:br>
            <a:r>
              <a:rPr lang="en-US" sz="2000"/>
              <a:t> </a:t>
            </a:r>
          </a:p>
        </p:txBody>
      </p:sp>
      <p:sp>
        <p:nvSpPr>
          <p:cNvPr id="3" name="TextBox 2">
            <a:extLst>
              <a:ext uri="{FF2B5EF4-FFF2-40B4-BE49-F238E27FC236}">
                <a16:creationId xmlns:a16="http://schemas.microsoft.com/office/drawing/2014/main" id="{527F30CC-07EF-8FCC-DA00-C9212F5DAECE}"/>
              </a:ext>
            </a:extLst>
          </p:cNvPr>
          <p:cNvSpPr txBox="1"/>
          <p:nvPr/>
        </p:nvSpPr>
        <p:spPr>
          <a:xfrm>
            <a:off x="158538" y="203047"/>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016210"/>
          </a:xfrm>
          <a:prstGeom prst="rect">
            <a:avLst/>
          </a:prstGeom>
          <a:noFill/>
        </p:spPr>
        <p:txBody>
          <a:bodyPr wrap="square" lIns="91440" tIns="45720" rIns="91440" bIns="45720" rtlCol="0" anchor="t">
            <a:spAutoFit/>
          </a:bodyPr>
          <a:lstStyle/>
          <a:p>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Predictive Maintenance model efficiently. IBM Cloud Lite enables a </a:t>
            </a:r>
            <a:r>
              <a:rPr lang="en-US" sz="1800" b="1"/>
              <a:t>reliable, secure, and scalable environment</a:t>
            </a:r>
            <a:r>
              <a:rPr lang="en-US" sz="1800"/>
              <a:t> for hosting the watsonx.ai Studio notebook, the dataset, and the trained model</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a:t>ML Algorithm/ Model Used: Random Forest Classifier (scikit-learn)</a:t>
            </a:r>
          </a:p>
          <a:p>
            <a:pPr marL="285750" indent="-285750">
              <a:buFont typeface="Arial" panose="020B0604020202020204" pitchFamily="34" charset="0"/>
              <a:buChar char="•"/>
            </a:pPr>
            <a:r>
              <a:rPr lang="en-US" sz="1800"/>
              <a:t>Accuracy Obtained: 98.05% (baseline) / 97.2% (after SMOTE rebalancing)</a:t>
            </a:r>
          </a:p>
          <a:p>
            <a:pPr marL="285750" indent="-285750">
              <a:buFont typeface="Arial" panose="020B0604020202020204" pitchFamily="34" charset="0"/>
              <a:buChar char="•"/>
            </a:pPr>
            <a:r>
              <a:rPr lang="en-US" sz="1800"/>
              <a:t>Enhancements: class_weight=‘balanced’ baseline, then SMOTE oversampling on training data – improved rare-class recall by up to 37 points</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Training Screenshots-</a:t>
            </a:r>
            <a:endParaRPr sz="2400" b="1">
              <a:sym typeface="Times New Roman"/>
            </a:endParaRPr>
          </a:p>
        </p:txBody>
      </p:sp>
      <p:pic>
        <p:nvPicPr>
          <p:cNvPr id="7" name="Training Screenshot"/>
          <p:cNvPicPr>
            <a:picLocks noChangeAspect="1"/>
          </p:cNvPicPr>
          <p:nvPr/>
        </p:nvPicPr>
        <p:blipFill>
          <a:blip r:embed="rId3"/>
          <a:stretch>
            <a:fillRect/>
          </a:stretch>
        </p:blipFill>
        <p:spPr>
          <a:xfrm>
            <a:off x="1596000" y="2500000"/>
            <a:ext cx="9000000" cy="1570000"/>
          </a:xfrm>
          <a:prstGeom prst="rect">
            <a:avLst/>
          </a:prstGeom>
          <a:ln w="9525">
            <a:solidFill>
              <a:srgbClr val="BFBFBF"/>
            </a:solidFill>
          </a:ln>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404240" y="85114"/>
            <a:ext cx="5908929" cy="448508"/>
          </a:xfrm>
          <a:prstGeom prst="rect">
            <a:avLst/>
          </a:prstGeom>
          <a:noFill/>
          <a:ln>
            <a:noFill/>
          </a:ln>
        </p:spPr>
        <p:txBody>
          <a:bodyPr spcFirstLastPara="1" wrap="square" lIns="0" tIns="0" rIns="0" bIns="0" anchor="t" anchorCtr="0">
            <a:noAutofit/>
          </a:bodyPr>
          <a:lstStyle/>
          <a:p>
            <a:r>
              <a:rPr lang="en-US" sz="2400" b="1">
                <a:solidFill>
                  <a:schemeClr val="dk1"/>
                </a:solidFill>
                <a:latin typeface="Calibri"/>
                <a:ea typeface="Calibri"/>
                <a:cs typeface="Calibri"/>
              </a:rPr>
              <a:t>Best Model Screenshot:</a:t>
            </a:r>
          </a:p>
        </p:txBody>
      </p:sp>
      <p:pic>
        <p:nvPicPr>
          <p:cNvPr id="12" name="Best Model Screenshot"/>
          <p:cNvPicPr>
            <a:picLocks noChangeAspect="1"/>
          </p:cNvPicPr>
          <p:nvPr/>
        </p:nvPicPr>
        <p:blipFill>
          <a:blip r:embed="rId3"/>
          <a:stretch>
            <a:fillRect/>
          </a:stretch>
        </p:blipFill>
        <p:spPr>
          <a:xfrm>
            <a:off x="6212911" y="771525"/>
            <a:ext cx="6027216" cy="6001361"/>
          </a:xfrm>
          <a:prstGeom prst="rect">
            <a:avLst/>
          </a:prstGeom>
          <a:ln w="9525">
            <a:solidFill>
              <a:srgbClr val="BFBFBF"/>
            </a:solidFill>
          </a:ln>
        </p:spPr>
      </p:pic>
      <p:pic>
        <p:nvPicPr>
          <p:cNvPr id="4" name="Picture 3">
            <a:extLst>
              <a:ext uri="{FF2B5EF4-FFF2-40B4-BE49-F238E27FC236}">
                <a16:creationId xmlns:a16="http://schemas.microsoft.com/office/drawing/2014/main" id="{AA51C12C-0425-4C55-9EB7-DDA041F636CA}"/>
              </a:ext>
            </a:extLst>
          </p:cNvPr>
          <p:cNvPicPr>
            <a:picLocks noChangeAspect="1"/>
          </p:cNvPicPr>
          <p:nvPr/>
        </p:nvPicPr>
        <p:blipFill>
          <a:blip r:embed="rId4"/>
          <a:stretch>
            <a:fillRect/>
          </a:stretch>
        </p:blipFill>
        <p:spPr>
          <a:xfrm>
            <a:off x="76200" y="771525"/>
            <a:ext cx="6095999" cy="60013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rPr>
              <a:t>Testing Screenshot:</a:t>
            </a:r>
          </a:p>
        </p:txBody>
      </p:sp>
      <p:pic>
        <p:nvPicPr>
          <p:cNvPr id="4" name="Picture 3">
            <a:extLst>
              <a:ext uri="{FF2B5EF4-FFF2-40B4-BE49-F238E27FC236}">
                <a16:creationId xmlns:a16="http://schemas.microsoft.com/office/drawing/2014/main" id="{254FE30C-1FD1-4631-8C60-5FDE8E339BA3}"/>
              </a:ext>
            </a:extLst>
          </p:cNvPr>
          <p:cNvPicPr>
            <a:picLocks noChangeAspect="1"/>
          </p:cNvPicPr>
          <p:nvPr/>
        </p:nvPicPr>
        <p:blipFill>
          <a:blip r:embed="rId3"/>
          <a:stretch>
            <a:fillRect/>
          </a:stretch>
        </p:blipFill>
        <p:spPr>
          <a:xfrm>
            <a:off x="3492054" y="238235"/>
            <a:ext cx="4377366" cy="6296526"/>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414759" y="207380"/>
            <a:ext cx="2816507"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Calibri"/>
              </a:rPr>
              <a:t>Testing Screenshot:</a:t>
            </a:r>
            <a:endParaRPr lang="en-US"/>
          </a:p>
          <a:p>
            <a:pPr algn="ctr"/>
            <a:endParaRPr lang="en-US"/>
          </a:p>
        </p:txBody>
      </p:sp>
      <p:pic>
        <p:nvPicPr>
          <p:cNvPr id="7" name="SMOTE Classification Report"/>
          <p:cNvPicPr>
            <a:picLocks noChangeAspect="1"/>
          </p:cNvPicPr>
          <p:nvPr/>
        </p:nvPicPr>
        <p:blipFill>
          <a:blip r:embed="rId2"/>
          <a:stretch>
            <a:fillRect/>
          </a:stretch>
        </p:blipFill>
        <p:spPr>
          <a:xfrm>
            <a:off x="293069" y="887391"/>
            <a:ext cx="9920000" cy="5460000"/>
          </a:xfrm>
          <a:prstGeom prst="rect">
            <a:avLst/>
          </a:prstGeom>
          <a:ln w="9525">
            <a:solidFill>
              <a:srgbClr val="BFBFBF"/>
            </a:solidFill>
          </a:ln>
        </p:spPr>
      </p:pic>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769628" cy="3139321"/>
          </a:xfrm>
          <a:prstGeom prst="rect">
            <a:avLst/>
          </a:prstGeom>
          <a:noFill/>
        </p:spPr>
        <p:txBody>
          <a:bodyPr wrap="square" lIns="91440" tIns="45720" rIns="91440" bIns="45720" rtlCol="0" anchor="t">
            <a:spAutoFit/>
          </a:bodyPr>
          <a:lstStyle/>
          <a:p>
            <a:pPr marL="285750" indent="-285750">
              <a:buChar char="•"/>
            </a:pPr>
            <a:r>
              <a:rPr lang="en-IN" sz="1800" dirty="0"/>
              <a:t>The solution predicts the specific type of machine failure before it occurs, shifting maintenance from reactive/scheduled to truly predictive. </a:t>
            </a:r>
            <a:endParaRPr lang="en-US" dirty="0"/>
          </a:p>
          <a:p>
            <a:pPr marL="285750" indent="-285750">
              <a:buChar char="•"/>
            </a:pPr>
            <a:r>
              <a:rPr lang="en-IN" sz="1800" dirty="0"/>
              <a:t>It uses a single </a:t>
            </a:r>
            <a:r>
              <a:rPr lang="en-IN" sz="1800" b="1" dirty="0"/>
              <a:t>Random Forest model</a:t>
            </a:r>
            <a:r>
              <a:rPr lang="en-IN" sz="1800" dirty="0"/>
              <a:t> on </a:t>
            </a:r>
            <a:r>
              <a:rPr lang="en-IN" sz="1800" b="1" dirty="0"/>
              <a:t>IBM watsonx.ai Studio</a:t>
            </a:r>
            <a:r>
              <a:rPr lang="en-IN" sz="1800" dirty="0"/>
              <a:t> to classify readings into six failure categories using only standard sensor data. </a:t>
            </a:r>
            <a:endParaRPr lang="en-IN" dirty="0"/>
          </a:p>
          <a:p>
            <a:pPr marL="285750" indent="-285750">
              <a:buChar char="•"/>
            </a:pPr>
            <a:r>
              <a:rPr lang="en-IN" sz="1800" dirty="0"/>
              <a:t>Built entirely on IBM Cloud Lite, requiring no paid infrastructure – making it accessible for institutions and students alike. </a:t>
            </a:r>
            <a:endParaRPr lang="en-IN" dirty="0"/>
          </a:p>
          <a:p>
            <a:pPr marL="285750" indent="-285750">
              <a:buChar char="•"/>
            </a:pPr>
            <a:r>
              <a:rPr lang="en-IN" sz="1800"/>
              <a:t>Feature importance analysis reveals which operating conditions (e.g., torque, tool wear) most strongly drive failures, giving actionable engineering insight. </a:t>
            </a:r>
            <a:endParaRPr lang="en-IN"/>
          </a:p>
          <a:p>
            <a:pPr marL="285750" indent="-285750">
              <a:buChar char="•"/>
            </a:pPr>
            <a:r>
              <a:rPr lang="en-IN" sz="1800" dirty="0"/>
              <a:t>Reduces unplanned downtime and maintenance cost by enabling early, data-driven intervention rather than fixed-schedule servicing.</a:t>
            </a:r>
            <a:endParaRPr lang="en-IN" dirty="0"/>
          </a:p>
          <a:p>
            <a:endParaRPr lang="en-IN" sz="1800" b="1"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indent="-285750">
              <a:lnSpc>
                <a:spcPct val="150000"/>
              </a:lnSpc>
              <a:buFont typeface="Arial"/>
              <a:buChar char="•"/>
            </a:pPr>
            <a:r>
              <a:rPr lang="en-US" sz="1850">
                <a:solidFill>
                  <a:srgbClr val="2B3541"/>
                </a:solidFill>
              </a:rPr>
              <a:t>The system can integrate real-time IoT sensor streaming for continuous, live failure-risk monitoring rather than batch sensor data. </a:t>
            </a:r>
            <a:endParaRPr lang="en-US"/>
          </a:p>
          <a:p>
            <a:pPr marL="285750" indent="-285750">
              <a:lnSpc>
                <a:spcPct val="150000"/>
              </a:lnSpc>
              <a:buFont typeface="Arial"/>
              <a:buChar char="•"/>
            </a:pPr>
            <a:r>
              <a:rPr lang="en-US" sz="1850">
                <a:solidFill>
                  <a:srgbClr val="2B3541"/>
                </a:solidFill>
              </a:rPr>
              <a:t>The model can be extended to additional machine types (CNC, pumps, conveyors) and additional failure modes beyond the current six categories. </a:t>
            </a:r>
            <a:endParaRPr lang="en-US"/>
          </a:p>
          <a:p>
            <a:pPr marL="285750" indent="-285750">
              <a:lnSpc>
                <a:spcPct val="150000"/>
              </a:lnSpc>
              <a:buFont typeface="Arial"/>
              <a:buChar char="•"/>
            </a:pPr>
            <a:r>
              <a:rPr lang="en-US" sz="1850">
                <a:solidFill>
                  <a:srgbClr val="2B3541"/>
                </a:solidFill>
              </a:rPr>
              <a:t>The model can be deployed as a live REST API using IBM watsonx.ai Runtime, connected directly to plant SCADA systems. </a:t>
            </a:r>
            <a:endParaRPr lang="en-US"/>
          </a:p>
          <a:p>
            <a:pPr marL="285750" indent="-285750">
              <a:lnSpc>
                <a:spcPct val="150000"/>
              </a:lnSpc>
              <a:buFont typeface="Arial"/>
              <a:buChar char="•"/>
            </a:pPr>
            <a:r>
              <a:rPr lang="en-US" sz="1850">
                <a:solidFill>
                  <a:srgbClr val="2B3541"/>
                </a:solidFill>
              </a:rPr>
              <a:t>Advanced algorithms (e.g., XGBoost) and resampling techniques (e.g., SMOTE) can be used to improve detection of rare failure types. </a:t>
            </a:r>
            <a:endParaRPr lang="en-US"/>
          </a:p>
          <a:p>
            <a:pPr marL="285750" indent="-285750">
              <a:lnSpc>
                <a:spcPct val="150000"/>
              </a:lnSpc>
              <a:buFont typeface="Arial"/>
              <a:buChar char="•"/>
            </a:pPr>
            <a:r>
              <a:rPr lang="en-US" sz="1850">
                <a:solidFill>
                  <a:srgbClr val="2B3541"/>
                </a:solidFill>
              </a:rPr>
              <a:t>The solution can be scaled from a single fleet to plant-wide deployment, giving maintenance teams advance alerts before failures occur</a:t>
            </a:r>
            <a:endParaRPr lang="en-US"/>
          </a:p>
          <a:p>
            <a:pPr marL="0" marR="0" lvl="0" indent="0" algn="l">
              <a:lnSpc>
                <a:spcPct val="150000"/>
              </a:lnSpc>
              <a:spcBef>
                <a:spcPts val="0"/>
              </a:spcBef>
              <a:spcAft>
                <a:spcPts val="0"/>
              </a:spcAft>
              <a:buSzPts val="1850"/>
              <a:buFont typeface="Times New Roman"/>
              <a:buNone/>
            </a:pPr>
            <a:endParaRPr lang="en-US" sz="1850" b="1">
              <a:solidFill>
                <a:srgbClr val="2B3541"/>
              </a:solidFill>
              <a:latin typeface="Times New Roman"/>
              <a:cs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488599-1CDB-6479-4ED5-FDEEC38049D9}"/>
                  </a:ext>
                </a:extLst>
              </p14:cNvPr>
              <p14:cNvContentPartPr/>
              <p14:nvPr/>
            </p14:nvContentPartPr>
            <p14:xfrm>
              <a:off x="3048334" y="3639298"/>
              <a:ext cx="3513095" cy="16098"/>
            </p14:xfrm>
          </p:contentPart>
        </mc:Choice>
        <mc:Fallback xmlns="">
          <p:pic>
            <p:nvPicPr>
              <p:cNvPr id="2" name="Ink 1">
                <a:extLst>
                  <a:ext uri="{FF2B5EF4-FFF2-40B4-BE49-F238E27FC236}">
                    <a16:creationId xmlns:a16="http://schemas.microsoft.com/office/drawing/2014/main" id="{1C488599-1CDB-6479-4ED5-FDEEC38049D9}"/>
                  </a:ext>
                </a:extLst>
              </p:cNvPr>
              <p:cNvPicPr/>
              <p:nvPr/>
            </p:nvPicPr>
            <p:blipFill>
              <a:blip r:embed="rId4"/>
              <a:stretch>
                <a:fillRect/>
              </a:stretch>
            </p:blipFill>
            <p:spPr>
              <a:xfrm>
                <a:off x="3030337" y="2834398"/>
                <a:ext cx="3548730" cy="1609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6AD5D31-EDA5-2C50-7CE9-7D1E60A89F54}"/>
                  </a:ext>
                </a:extLst>
              </p14:cNvPr>
              <p14:cNvContentPartPr/>
              <p14:nvPr/>
            </p14:nvContentPartPr>
            <p14:xfrm>
              <a:off x="3338890" y="3210002"/>
              <a:ext cx="3042822" cy="16098"/>
            </p14:xfrm>
          </p:contentPart>
        </mc:Choice>
        <mc:Fallback xmlns="">
          <p:pic>
            <p:nvPicPr>
              <p:cNvPr id="5" name="Ink 4">
                <a:extLst>
                  <a:ext uri="{FF2B5EF4-FFF2-40B4-BE49-F238E27FC236}">
                    <a16:creationId xmlns:a16="http://schemas.microsoft.com/office/drawing/2014/main" id="{66AD5D31-EDA5-2C50-7CE9-7D1E60A89F54}"/>
                  </a:ext>
                </a:extLst>
              </p:cNvPr>
              <p:cNvPicPr/>
              <p:nvPr/>
            </p:nvPicPr>
            <p:blipFill>
              <a:blip r:embed="rId6"/>
              <a:stretch>
                <a:fillRect/>
              </a:stretch>
            </p:blipFill>
            <p:spPr>
              <a:xfrm>
                <a:off x="3320892" y="2405102"/>
                <a:ext cx="3078459" cy="1609800"/>
              </a:xfrm>
              <a:prstGeom prst="rect">
                <a:avLst/>
              </a:prstGeom>
            </p:spPr>
          </p:pic>
        </mc:Fallback>
      </mc:AlternateContent>
      <p:pic>
        <p:nvPicPr>
          <p:cNvPr id="8" name="Picture 7">
            <a:extLst>
              <a:ext uri="{FF2B5EF4-FFF2-40B4-BE49-F238E27FC236}">
                <a16:creationId xmlns:a16="http://schemas.microsoft.com/office/drawing/2014/main" id="{13C7FE2E-D009-4E3F-AA16-E35B6593E66A}"/>
              </a:ext>
            </a:extLst>
          </p:cNvPr>
          <p:cNvPicPr>
            <a:picLocks noChangeAspect="1"/>
          </p:cNvPicPr>
          <p:nvPr/>
        </p:nvPicPr>
        <p:blipFill>
          <a:blip r:embed="rId7"/>
          <a:stretch>
            <a:fillRect/>
          </a:stretch>
        </p:blipFill>
        <p:spPr>
          <a:xfrm>
            <a:off x="1163607" y="1213281"/>
            <a:ext cx="8016935" cy="599746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D5D9A782-1581-4B08-8F6C-44B6828E15BD}"/>
              </a:ext>
            </a:extLst>
          </p:cNvPr>
          <p:cNvPicPr>
            <a:picLocks noChangeAspect="1"/>
          </p:cNvPicPr>
          <p:nvPr/>
        </p:nvPicPr>
        <p:blipFill>
          <a:blip r:embed="rId2"/>
          <a:stretch>
            <a:fillRect/>
          </a:stretch>
        </p:blipFill>
        <p:spPr>
          <a:xfrm>
            <a:off x="1287404" y="1283741"/>
            <a:ext cx="8664691" cy="528111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805</Words>
  <Application>Microsoft Office PowerPoint</Application>
  <PresentationFormat>Widescreen</PresentationFormat>
  <Paragraphs>49</Paragraphs>
  <Slides>14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Syed Musaib</cp:lastModifiedBy>
  <cp:revision>5</cp:revision>
  <dcterms:created xsi:type="dcterms:W3CDTF">2025-07-08T05:06:56Z</dcterms:created>
  <dcterms:modified xsi:type="dcterms:W3CDTF">2026-07-12T10:25:19Z</dcterms:modified>
</cp:coreProperties>
</file>